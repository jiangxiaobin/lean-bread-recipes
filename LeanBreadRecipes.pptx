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C7882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B8504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457200" cy="457200"/>
          </a:xfrm>
          <a:prstGeom prst="ellipse">
            <a:avLst/>
          </a:prstGeom>
          <a:solidFill>
            <a:srgbClr val="C7882E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5E6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低糖油主食面包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5E6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烘焙食谱软件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8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基于烘焙百分比 · 智能食材动态调整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Bread Recipe Software — Baker's Percentages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硬欧面包 · 法棍 · 恰巴塔 · 佛卡夏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88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产品概述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097280" cy="0"/>
          </a:xfrm>
          <a:prstGeom prst="line">
            <a:avLst/>
          </a:prstGeom>
          <a:noFill/>
          <a:ln w="31750">
            <a:solidFill>
              <a:srgbClr val="C788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核心价值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修改任意食材重量，全配方自动联动更新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基于专业烘焙百分比（Baker's Percentages）体系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款预置低糖油主食面包配方，涵盖 4 大品类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含水量可视化仪表，一眼掌握面团状态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中英双语步骤说明 + 酵种面板 + 烘焙技巧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10515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0" y="15087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0" y="2148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预置食谱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10515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5087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766560" y="2148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面包品类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10515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0" y="15087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046720" y="2148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核心公式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solidFill>
            <a:srgbClr val="F5E6D0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319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一键修改 → </a:t>
            </a:r>
            <a:pPr indent="0" marL="0">
              <a:buNone/>
            </a:pPr>
            <a:r>
              <a:rPr lang="en-US" sz="14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输入任意食材的新重量，系统逆推面粉总量，重新计算所有食材克数并四舍五入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88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烘焙百分比系统 (Baker's Percentages)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097280" cy="0"/>
          </a:xfrm>
          <a:prstGeom prst="line">
            <a:avLst/>
          </a:prstGeom>
          <a:noFill/>
          <a:ln w="31750">
            <a:solidFill>
              <a:srgbClr val="C788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solidFill>
            <a:srgbClr val="3A2A1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E6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食材重量 (g)  =  ( 百分比 ÷ 100 )  ×  面粉总重 (g)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286000"/>
            <a:ext cx="2468880" cy="54864"/>
          </a:xfrm>
          <a:prstGeom prst="rect">
            <a:avLst/>
          </a:prstGeom>
          <a:solidFill>
            <a:srgbClr val="C788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1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面粉 = 100%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总面粉永远是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烘焙百分比的基准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2468880"/>
            <a:ext cx="365760" cy="365760"/>
          </a:xfrm>
          <a:prstGeom prst="ellipse">
            <a:avLst/>
          </a:prstGeom>
          <a:solidFill>
            <a:srgbClr val="C7882E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228600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2286000"/>
            <a:ext cx="246888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1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水 = 60-82%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66160" y="3063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含水量决定面团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质地与气孔结构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0" y="2468880"/>
            <a:ext cx="365760" cy="365760"/>
          </a:xfrm>
          <a:prstGeom prst="ellipse">
            <a:avLst/>
          </a:prstGeom>
          <a:solidFill>
            <a:srgbClr val="B85042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228600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286000"/>
            <a:ext cx="2468880" cy="54864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1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盐/酵母 ≤ 2%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09360" y="3063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小剂量食材精确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四舍五入到 0.1g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46720" y="2468880"/>
            <a:ext cx="365760" cy="365760"/>
          </a:xfrm>
          <a:prstGeom prst="ellipse">
            <a:avLst/>
          </a:prstGeom>
          <a:solidFill>
            <a:srgbClr val="4A8C5C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所有食材均以面粉总量为基准按比例定义，确保配方可任意缩放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88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核心功能：动态食材调整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097280" cy="0"/>
          </a:xfrm>
          <a:prstGeom prst="line">
            <a:avLst/>
          </a:prstGeom>
          <a:noFill/>
          <a:ln w="31750">
            <a:solidFill>
              <a:srgbClr val="C788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88720"/>
            <a:ext cx="1783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用户修改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任意食材克数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23160" y="118872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8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88920" y="1188720"/>
            <a:ext cx="1783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11887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逆推新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面粉总重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18872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8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937760" y="1188720"/>
            <a:ext cx="1783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1887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重算所有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食材重量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118872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8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86600" y="1188720"/>
            <a:ext cx="1783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86600" y="11887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四舍五入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刷新界面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65176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27614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示例：将盐从 10g 改为 12g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3127248"/>
            <a:ext cx="3383280" cy="0"/>
          </a:xfrm>
          <a:prstGeom prst="line">
            <a:avLst/>
          </a:prstGeom>
          <a:noFill/>
          <a:ln w="6350">
            <a:solidFill>
              <a:srgbClr val="E8D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20040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盐 2% → 新面粉 = 12 ÷ 2% = 600g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原面粉 500g → 自动更新为 600g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 70% → 350g 自动更新为 420g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所有食材按百分比同步缩放 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65176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27614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精度规则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3127248"/>
            <a:ext cx="3383280" cy="0"/>
          </a:xfrm>
          <a:prstGeom prst="line">
            <a:avLst/>
          </a:prstGeom>
          <a:noFill/>
          <a:ln w="6350">
            <a:solidFill>
              <a:srgbClr val="E8D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20040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盐、酵母（≤2%）：四舍五入到 0.1g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面粉、水等主料（&gt;2%）：四舍五入到整克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输入验证：拒绝负数、零值、空输入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一键重置：恢复默认配方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88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预置食谱（4 大分类 · 8 款配方）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097280" cy="0"/>
          </a:xfrm>
          <a:prstGeom prst="line">
            <a:avLst/>
          </a:prstGeom>
          <a:noFill/>
          <a:ln w="31750">
            <a:solidFill>
              <a:srgbClr val="C788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硬欧面包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83080" y="1783080"/>
            <a:ext cx="457200" cy="256032"/>
          </a:xfrm>
          <a:prstGeom prst="rect">
            <a:avLst/>
          </a:prstGeom>
          <a:solidFill>
            <a:srgbClr val="B85042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1783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8288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乡村面包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de Campagne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含水量 70%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83080" y="3200400"/>
            <a:ext cx="457200" cy="256032"/>
          </a:xfrm>
          <a:prstGeom prst="rect">
            <a:avLst/>
          </a:prstGeom>
          <a:solidFill>
            <a:srgbClr val="B85042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783080" y="32004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2461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天然酵母面包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au Levain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" y="3886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含水量 72%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32888" y="1051560"/>
            <a:ext cx="1920240" cy="457200"/>
          </a:xfrm>
          <a:prstGeom prst="rect">
            <a:avLst/>
          </a:prstGeom>
          <a:solidFill>
            <a:srgbClr val="C7882E"/>
          </a:solidFill>
          <a:ln/>
        </p:spPr>
      </p:sp>
      <p:sp>
        <p:nvSpPr>
          <p:cNvPr id="20" name="Text 18"/>
          <p:cNvSpPr/>
          <p:nvPr/>
        </p:nvSpPr>
        <p:spPr>
          <a:xfrm>
            <a:off x="2532888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法棍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532888" y="16916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58768" y="1783080"/>
            <a:ext cx="457200" cy="256032"/>
          </a:xfrm>
          <a:prstGeom prst="rect">
            <a:avLst/>
          </a:prstGeom>
          <a:solidFill>
            <a:srgbClr val="C7882E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858768" y="1783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8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42616" y="18288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传统法棍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42616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Baguette Tradition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42616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含水量 75%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32888" y="31089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58768" y="3200400"/>
            <a:ext cx="457200" cy="256032"/>
          </a:xfrm>
          <a:prstGeom prst="rect">
            <a:avLst/>
          </a:prstGeom>
          <a:solidFill>
            <a:srgbClr val="C7882E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858768" y="32004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8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42616" y="32461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波兰种法棍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42616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Baguette Poolish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42616" y="3886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含水量 76%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08576" y="1051560"/>
            <a:ext cx="1920240" cy="457200"/>
          </a:xfrm>
          <a:prstGeom prst="rect">
            <a:avLst/>
          </a:prstGeom>
          <a:solidFill>
            <a:srgbClr val="C7512E"/>
          </a:solidFill>
          <a:ln/>
        </p:spPr>
      </p:sp>
      <p:sp>
        <p:nvSpPr>
          <p:cNvPr id="34" name="Text 32"/>
          <p:cNvSpPr/>
          <p:nvPr/>
        </p:nvSpPr>
        <p:spPr>
          <a:xfrm>
            <a:off x="4608576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恰巴塔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08576" y="16916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34456" y="1783080"/>
            <a:ext cx="457200" cy="256032"/>
          </a:xfrm>
          <a:prstGeom prst="rect">
            <a:avLst/>
          </a:prstGeom>
          <a:solidFill>
            <a:srgbClr val="C7512E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934456" y="1783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18304" y="18288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经典恰巴塔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18304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Ciabatta Classica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18304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含水量 80%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08576" y="31089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34456" y="3200400"/>
            <a:ext cx="457200" cy="256032"/>
          </a:xfrm>
          <a:prstGeom prst="rect">
            <a:avLst/>
          </a:prstGeom>
          <a:solidFill>
            <a:srgbClr val="C7512E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934456" y="32004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18304" y="32461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意式酵种恰巴塔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718304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Ciabatta Biga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18304" y="3886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含水量 82%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684264" y="1051560"/>
            <a:ext cx="1920240" cy="457200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48" name="Text 46"/>
          <p:cNvSpPr/>
          <p:nvPr/>
        </p:nvSpPr>
        <p:spPr>
          <a:xfrm>
            <a:off x="6684264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其他主食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684264" y="16916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010144" y="1783080"/>
            <a:ext cx="457200" cy="256032"/>
          </a:xfrm>
          <a:prstGeom prst="rect">
            <a:avLst/>
          </a:prstGeom>
          <a:solidFill>
            <a:srgbClr val="4A8C5C">
              <a:alpha val="8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010144" y="1783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93992" y="18288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佛卡夏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793992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Focaccia Genovese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93992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含水量 75%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684264" y="31089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010144" y="3200400"/>
            <a:ext cx="457200" cy="256032"/>
          </a:xfrm>
          <a:prstGeom prst="rect">
            <a:avLst/>
          </a:prstGeom>
          <a:solidFill>
            <a:srgbClr val="4A8C5C">
              <a:alpha val="8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010144" y="32004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793992" y="32461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德式黑麦面包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793992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Rye Bread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93992" y="3886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含水量 68%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88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含水量可视化仪表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097280" cy="0"/>
          </a:xfrm>
          <a:prstGeom prst="line">
            <a:avLst/>
          </a:prstGeom>
          <a:noFill/>
          <a:ln w="31750">
            <a:solidFill>
              <a:srgbClr val="C788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SVG 环形水量仪表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SVG 圆环（donut chart）实现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环形弧长 = 含水量百分比，视觉直觉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颜色编码：绿（低）→ 金（中）→ 橙（高）→ 红（超高）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stroke-dasharray 动画过渡效果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252728"/>
            <a:ext cx="256032" cy="256032"/>
          </a:xfrm>
          <a:prstGeom prst="ellipse">
            <a:avLst/>
          </a:prstGeom>
          <a:solidFill>
            <a:srgbClr val="8B9A5A"/>
          </a:solidFill>
          <a:ln/>
        </p:spPr>
      </p:sp>
      <p:sp>
        <p:nvSpPr>
          <p:cNvPr id="8" name="Text 6"/>
          <p:cNvSpPr/>
          <p:nvPr/>
        </p:nvSpPr>
        <p:spPr>
          <a:xfrm>
            <a:off x="6327648" y="1188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低水量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7648" y="14447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2029968"/>
            <a:ext cx="256032" cy="256032"/>
          </a:xfrm>
          <a:prstGeom prst="ellipse">
            <a:avLst/>
          </a:prstGeom>
          <a:solidFill>
            <a:srgbClr val="C7882E"/>
          </a:solidFill>
          <a:ln/>
        </p:spPr>
      </p:sp>
      <p:sp>
        <p:nvSpPr>
          <p:cNvPr id="11" name="Text 9"/>
          <p:cNvSpPr/>
          <p:nvPr/>
        </p:nvSpPr>
        <p:spPr>
          <a:xfrm>
            <a:off x="6327648" y="1965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中水量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27648" y="22219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65-72%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2807208"/>
            <a:ext cx="256032" cy="256032"/>
          </a:xfrm>
          <a:prstGeom prst="ellipse">
            <a:avLst/>
          </a:prstGeom>
          <a:solidFill>
            <a:srgbClr val="C7512E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2743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高水量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7648" y="29992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72-80%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3584448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3520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超高水量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27648" y="3776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各食谱含水量一览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66160"/>
          <a:ext cx="4754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00584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食谱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含水量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等级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Ciabatta Biga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超高水量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Ciabatta Classica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超高水量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Baguette Poolish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高水量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Baguette Tradition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高水量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Focaccia Genovese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高水量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au Levain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中水量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de Campagne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中水量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Rye Bread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1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中水量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88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097280" cy="0"/>
          </a:xfrm>
          <a:prstGeom prst="line">
            <a:avLst/>
          </a:prstGeom>
          <a:noFill/>
          <a:ln w="31750">
            <a:solidFill>
              <a:srgbClr val="C788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73152" cy="292608"/>
          </a:xfrm>
          <a:prstGeom prst="rect">
            <a:avLst/>
          </a:prstGeom>
          <a:solidFill>
            <a:srgbClr val="C7882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7739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组件化 UI，受控输入框 + 自定义 Hook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73152" cy="292608"/>
          </a:xfrm>
          <a:prstGeom prst="rect">
            <a:avLst/>
          </a:prstGeom>
          <a:solidFill>
            <a:srgbClr val="C7882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29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2494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严格模式，编译期类型安全检查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551176"/>
            <a:ext cx="73152" cy="292608"/>
          </a:xfrm>
          <a:prstGeom prst="rect">
            <a:avLst/>
          </a:prstGeom>
          <a:solidFill>
            <a:srgbClr val="C788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505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724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极速 HMR 开发服务器，生产构建优化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026664"/>
            <a:ext cx="73152" cy="292608"/>
          </a:xfrm>
          <a:prstGeom prst="rect">
            <a:avLst/>
          </a:prstGeom>
          <a:solidFill>
            <a:srgbClr val="C7882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9809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Modules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200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组件级样式隔离，零运行时成本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502152"/>
            <a:ext cx="73152" cy="292608"/>
          </a:xfrm>
          <a:prstGeom prst="rect">
            <a:avLst/>
          </a:prstGeom>
          <a:solidFill>
            <a:srgbClr val="C7882E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4564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6758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条件类名工具（~300B）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977640"/>
            <a:ext cx="73152" cy="292608"/>
          </a:xfrm>
          <a:prstGeom prst="rect">
            <a:avLst/>
          </a:prstGeom>
          <a:solidFill>
            <a:srgbClr val="C7882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零路由依赖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1513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管理两个视图切换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组件架构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029200" y="1618488"/>
            <a:ext cx="2560320" cy="219456"/>
          </a:xfrm>
          <a:prstGeom prst="rect">
            <a:avLst/>
          </a:prstGeom>
          <a:solidFill>
            <a:srgbClr val="3A2A1A"/>
          </a:solidFill>
          <a:ln/>
        </p:spPr>
      </p:sp>
      <p:sp>
        <p:nvSpPr>
          <p:cNvPr id="26" name="Text 24"/>
          <p:cNvSpPr/>
          <p:nvPr/>
        </p:nvSpPr>
        <p:spPr>
          <a:xfrm>
            <a:off x="5102352" y="1600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49240" y="1856232"/>
            <a:ext cx="2286000" cy="219456"/>
          </a:xfrm>
          <a:prstGeom prst="rect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422392" y="18379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1F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49240" y="2093976"/>
            <a:ext cx="2286000" cy="219456"/>
          </a:xfrm>
          <a:prstGeom prst="rect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22392" y="20756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1F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RecipeBrowser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2331720"/>
            <a:ext cx="2011680" cy="219456"/>
          </a:xfrm>
          <a:prstGeom prst="rect">
            <a:avLst/>
          </a:prstGeom>
          <a:solidFill>
            <a:srgbClr val="C7882E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742432" y="23134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F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CategoryFilter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2569464"/>
            <a:ext cx="2011680" cy="219456"/>
          </a:xfrm>
          <a:prstGeom prst="rect">
            <a:avLst/>
          </a:prstGeom>
          <a:solidFill>
            <a:srgbClr val="C7882E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742432" y="25511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F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RecipeCard × 8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49240" y="2807208"/>
            <a:ext cx="2286000" cy="219456"/>
          </a:xfrm>
          <a:prstGeom prst="rect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422392" y="2788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1F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RecipeDetail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3044952"/>
            <a:ext cx="2011680" cy="219456"/>
          </a:xfrm>
          <a:prstGeom prst="rect">
            <a:avLst/>
          </a:prstGeom>
          <a:solidFill>
            <a:srgbClr val="C7512E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742432" y="30266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F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AdjustmentPanel ⭐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3282696"/>
            <a:ext cx="1737360" cy="219456"/>
          </a:xfrm>
          <a:prstGeom prst="rect">
            <a:avLst/>
          </a:prstGeom>
          <a:solidFill>
            <a:srgbClr val="C7882E">
              <a:alpha val="1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062472" y="32644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F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IngredientRow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0" y="3520440"/>
            <a:ext cx="2011680" cy="219456"/>
          </a:xfrm>
          <a:prstGeom prst="rect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742432" y="35021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F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HydrationGauge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0" y="3758184"/>
            <a:ext cx="2011680" cy="219456"/>
          </a:xfrm>
          <a:prstGeom prst="rect">
            <a:avLst/>
          </a:prstGeom>
          <a:solidFill>
            <a:srgbClr val="C7882E">
              <a:alpha val="1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742432" y="37398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F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InstructionsPanel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0" y="3995928"/>
            <a:ext cx="2560320" cy="219456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46" name="Text 44"/>
          <p:cNvSpPr/>
          <p:nvPr/>
        </p:nvSpPr>
        <p:spPr>
          <a:xfrm>
            <a:off x="5102352" y="39776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utils/bakerMath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0" y="4233672"/>
            <a:ext cx="2560320" cy="219456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48" name="Text 46"/>
          <p:cNvSpPr/>
          <p:nvPr/>
        </p:nvSpPr>
        <p:spPr>
          <a:xfrm>
            <a:off x="5102352" y="42153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hooks/useIngredientAdjustment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solidFill>
            <a:srgbClr val="F5E6D0">
              <a:alpha val="5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个源文件 · 生产构建 74 kB (gzip) · TypeScript 严格模式 · 移动端响应式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C7882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B85042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E6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8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低糖油主食面包烘焙食谱软件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12700">
            <a:solidFill>
              <a:srgbClr val="C788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github.com/Jiangxiaobin/lean-bread-recipes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Baker's Percentages 构建 · 精确到克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低糖油主食面包烘焙食谱软件</dc:title>
  <dc:subject>PptxGenJS Presentation</dc:subject>
  <dc:creator>Lean Bread Recipes</dc:creator>
  <cp:lastModifiedBy>Lean Bread Recipes</cp:lastModifiedBy>
  <cp:revision>1</cp:revision>
  <dcterms:created xsi:type="dcterms:W3CDTF">2026-06-24T13:09:10Z</dcterms:created>
  <dcterms:modified xsi:type="dcterms:W3CDTF">2026-06-24T13:09:10Z</dcterms:modified>
</cp:coreProperties>
</file>